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9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12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Δs → 0일 때 Δθ도 0으로 가지만, 비율 Δθ/Δs는 원에서 항상 1/r이므로 곡률 κ = 1/r 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829405" cy="85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F2937"/>
                </a:solidFill>
                <a:ea typeface="Malgun Gothic" pitchFamily="34" charset="-122"/>
                <a:cs typeface="Malgun Gothic" pitchFamily="34" charset="-120"/>
              </a:rPr>
              <a:t>Curvature: </a:t>
            </a:r>
            <a:r>
              <a:rPr lang="en-US" sz="2800" dirty="0"/>
              <a:t>Rate of change of the tangent angle (θ) with respect to arc length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326380" y="1399032"/>
            <a:ext cx="0" cy="3017520"/>
          </a:xfrm>
          <a:prstGeom prst="line">
            <a:avLst/>
          </a:prstGeom>
          <a:noFill/>
          <a:ln w="9525">
            <a:solidFill>
              <a:srgbClr val="8A8A8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56232" y="1901952"/>
            <a:ext cx="2816352" cy="2816352"/>
          </a:xfrm>
          <a:prstGeom prst="ellipse">
            <a:avLst/>
          </a:prstGeom>
          <a:ln w="2857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39262" y="3284982"/>
            <a:ext cx="50292" cy="50292"/>
          </a:xfrm>
          <a:prstGeom prst="ellipse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64408" y="3310128"/>
            <a:ext cx="1408176" cy="0"/>
          </a:xfrm>
          <a:prstGeom prst="line">
            <a:avLst/>
          </a:prstGeom>
          <a:noFill/>
          <a:ln w="12700">
            <a:solidFill>
              <a:srgbClr val="8A8A8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38525" y="299237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937"/>
                </a:solidFill>
                <a:latin typeface="Cascadia Code ExtraLight" panose="020B0609020000020004" pitchFamily="49" charset="0"/>
                <a:ea typeface="Calibri" pitchFamily="34" charset="-122"/>
                <a:cs typeface="Cascadia Code ExtraLight" panose="020B0609020000020004" pitchFamily="49" charset="0"/>
              </a:rPr>
              <a:t>r</a:t>
            </a:r>
            <a:endParaRPr lang="en-US" sz="2800" dirty="0">
              <a:latin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856232" y="1901952"/>
            <a:ext cx="2816352" cy="2816352"/>
          </a:xfrm>
          <a:prstGeom prst="arc">
            <a:avLst>
              <a:gd name="adj1" fmla="val 18900000"/>
              <a:gd name="adj2" fmla="val 0"/>
            </a:avLst>
          </a:prstGeom>
          <a:noFill/>
          <a:ln w="444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084625" y="258958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72584" y="2404872"/>
            <a:ext cx="0" cy="905256"/>
          </a:xfrm>
          <a:prstGeom prst="line">
            <a:avLst/>
          </a:prstGeom>
          <a:noFill/>
          <a:ln w="28575">
            <a:solidFill>
              <a:srgbClr val="1F77D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16452" y="1670609"/>
            <a:ext cx="643738" cy="643738"/>
          </a:xfrm>
          <a:prstGeom prst="line">
            <a:avLst/>
          </a:prstGeom>
          <a:noFill/>
          <a:ln w="28575">
            <a:solidFill>
              <a:srgbClr val="1F77D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32350" y="3269894"/>
            <a:ext cx="80467" cy="80467"/>
          </a:xfrm>
          <a:prstGeom prst="ellipse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19956" y="2274113"/>
            <a:ext cx="80467" cy="80467"/>
          </a:xfrm>
          <a:prstGeom prst="ellipse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747565" y="2506109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0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119019" y="1483777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0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65852" y="314919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b="1" dirty="0"/>
          </a:p>
        </p:txBody>
      </p:sp>
      <p:sp>
        <p:nvSpPr>
          <p:cNvPr id="19" name="Text 17"/>
          <p:cNvSpPr txBox="1"/>
          <p:nvPr/>
        </p:nvSpPr>
        <p:spPr>
          <a:xfrm>
            <a:off x="4215383" y="2013639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b="1" dirty="0"/>
          </a:p>
        </p:txBody>
      </p:sp>
      <p:sp>
        <p:nvSpPr>
          <p:cNvPr id="26" name="Shape 24"/>
          <p:cNvSpPr/>
          <p:nvPr/>
        </p:nvSpPr>
        <p:spPr>
          <a:xfrm>
            <a:off x="6221311" y="2297233"/>
            <a:ext cx="1247242" cy="1247242"/>
          </a:xfrm>
          <a:prstGeom prst="arc">
            <a:avLst>
              <a:gd name="adj1" fmla="val 13500000"/>
              <a:gd name="adj2" fmla="val 0"/>
            </a:avLst>
          </a:prstGeom>
          <a:noFill/>
          <a:ln w="12700">
            <a:solidFill>
              <a:srgbClr val="8A8A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60377" y="2136299"/>
            <a:ext cx="1569110" cy="1569110"/>
          </a:xfrm>
          <a:prstGeom prst="arc">
            <a:avLst>
              <a:gd name="adj1" fmla="val 13500000"/>
              <a:gd name="adj2" fmla="val 16200000"/>
            </a:avLst>
          </a:prstGeom>
          <a:noFill/>
          <a:ln w="444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44932" y="2907792"/>
            <a:ext cx="1005840" cy="0"/>
          </a:xfrm>
          <a:prstGeom prst="line">
            <a:avLst/>
          </a:prstGeom>
          <a:noFill/>
          <a:ln w="12700">
            <a:solidFill>
              <a:srgbClr val="8A8A8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44932" y="1901952"/>
            <a:ext cx="0" cy="1005840"/>
          </a:xfrm>
          <a:prstGeom prst="line">
            <a:avLst/>
          </a:prstGeom>
          <a:noFill/>
          <a:ln w="28575">
            <a:solidFill>
              <a:srgbClr val="1F77D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30786" y="2193646"/>
            <a:ext cx="714146" cy="714146"/>
          </a:xfrm>
          <a:prstGeom prst="line">
            <a:avLst/>
          </a:prstGeom>
          <a:noFill/>
          <a:ln w="28575">
            <a:solidFill>
              <a:srgbClr val="1F77D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14757" y="2877617"/>
            <a:ext cx="60350" cy="60350"/>
          </a:xfrm>
          <a:prstGeom prst="ellipse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83414" y="2659336"/>
            <a:ext cx="523037" cy="523037"/>
          </a:xfrm>
          <a:prstGeom prst="arc">
            <a:avLst>
              <a:gd name="adj1" fmla="val 16200000"/>
              <a:gd name="adj2" fmla="val 0"/>
            </a:avLst>
          </a:prstGeom>
          <a:noFill/>
          <a:ln w="12700">
            <a:solidFill>
              <a:srgbClr val="8A8A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938201" y="2497227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r>
              <a:rPr lang="en-US" sz="16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b="1" dirty="0"/>
          </a:p>
        </p:txBody>
      </p:sp>
      <p:sp>
        <p:nvSpPr>
          <p:cNvPr id="29" name="Text 27"/>
          <p:cNvSpPr txBox="1"/>
          <p:nvPr/>
        </p:nvSpPr>
        <p:spPr>
          <a:xfrm>
            <a:off x="7246354" y="2209190"/>
            <a:ext cx="2523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r>
              <a:rPr lang="en-US" sz="16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b="1" dirty="0"/>
          </a:p>
        </p:txBody>
      </p:sp>
      <p:sp>
        <p:nvSpPr>
          <p:cNvPr id="30" name="Text 28"/>
          <p:cNvSpPr txBox="1"/>
          <p:nvPr/>
        </p:nvSpPr>
        <p:spPr>
          <a:xfrm>
            <a:off x="6254230" y="1836115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3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Δθ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926314" y="1755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0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703762" y="20894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2000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737594" y="314541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r>
              <a:rPr lang="en-US" baseline="-40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90°,  θ</a:t>
            </a:r>
            <a:r>
              <a:rPr lang="en-US" baseline="-40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135°</a:t>
            </a: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5691876" y="3459175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Δθ = θ</a:t>
            </a:r>
            <a:r>
              <a:rPr lang="en-US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θ</a:t>
            </a:r>
            <a:r>
              <a:rPr lang="en-US" b="1" baseline="-40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45°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D34EC4-062A-5E4C-0B26-550A57B27E73}"/>
                  </a:ext>
                </a:extLst>
              </p:cNvPr>
              <p:cNvSpPr txBox="1"/>
              <p:nvPr/>
            </p:nvSpPr>
            <p:spPr>
              <a:xfrm>
                <a:off x="6146857" y="3833686"/>
                <a:ext cx="1234697" cy="522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D34EC4-062A-5E4C-0B26-550A57B27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857" y="3833686"/>
                <a:ext cx="1234697" cy="522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4C18F1-AE54-86E2-B502-9730BF18A618}"/>
                  </a:ext>
                </a:extLst>
              </p:cNvPr>
              <p:cNvSpPr txBox="1"/>
              <p:nvPr/>
            </p:nvSpPr>
            <p:spPr>
              <a:xfrm>
                <a:off x="2324696" y="3574974"/>
                <a:ext cx="1879424" cy="5227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84C18F1-AE54-86E2-B502-9730BF18A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696" y="3574974"/>
                <a:ext cx="1879424" cy="522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42DC9F9-81A5-BAF1-1C11-BC8861219087}"/>
              </a:ext>
            </a:extLst>
          </p:cNvPr>
          <p:cNvGrpSpPr/>
          <p:nvPr/>
        </p:nvGrpSpPr>
        <p:grpSpPr>
          <a:xfrm>
            <a:off x="1638045" y="822960"/>
            <a:ext cx="3848355" cy="3598196"/>
            <a:chOff x="1638045" y="822960"/>
            <a:chExt cx="3848355" cy="359819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A451093-8472-B1BF-3DC6-90FCFC4BC16C}"/>
                </a:ext>
              </a:extLst>
            </p:cNvPr>
            <p:cNvCxnSpPr>
              <a:cxnSpLocks/>
            </p:cNvCxnSpPr>
            <p:nvPr/>
          </p:nvCxnSpPr>
          <p:spPr>
            <a:xfrm>
              <a:off x="2517494" y="2939777"/>
              <a:ext cx="29689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4BF145C-55AF-DB72-0798-D408B9FC7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2527" y="822960"/>
              <a:ext cx="0" cy="29154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F5E87E1-E8EA-6689-FEC7-61A7B2E96C64}"/>
                </a:ext>
              </a:extLst>
            </p:cNvPr>
            <p:cNvCxnSpPr>
              <a:cxnSpLocks/>
            </p:cNvCxnSpPr>
            <p:nvPr/>
          </p:nvCxnSpPr>
          <p:spPr>
            <a:xfrm>
              <a:off x="2212322" y="1158240"/>
              <a:ext cx="3094671" cy="21279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C027DD1-60FD-3BB9-ABAC-A0F4733C3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2527" y="2161519"/>
              <a:ext cx="510929" cy="778258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0C0CEED-795A-85B7-5EF6-4281C2DDD932}"/>
                </a:ext>
              </a:extLst>
            </p:cNvPr>
            <p:cNvSpPr/>
            <p:nvPr/>
          </p:nvSpPr>
          <p:spPr>
            <a:xfrm rot="2611039">
              <a:off x="2985835" y="2653383"/>
              <a:ext cx="498998" cy="498998"/>
            </a:xfrm>
            <a:prstGeom prst="arc">
              <a:avLst>
                <a:gd name="adj1" fmla="val 15118467"/>
                <a:gd name="adj2" fmla="val 19433457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59B913-64BC-F2B1-892D-B3BB2C6B73F5}"/>
                    </a:ext>
                  </a:extLst>
                </p:cNvPr>
                <p:cNvSpPr txBox="1"/>
                <p:nvPr/>
              </p:nvSpPr>
              <p:spPr>
                <a:xfrm>
                  <a:off x="3461800" y="2572678"/>
                  <a:ext cx="1977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559B913-64BC-F2B1-892D-B3BB2C6B7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800" y="2572678"/>
                  <a:ext cx="197746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8750" r="-15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1441AB-FFA4-9B8D-EFCA-A16D3554CC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7082" y="1491426"/>
              <a:ext cx="475444" cy="143801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A0768F0-B395-074A-1FE3-16BE536E912C}"/>
                </a:ext>
              </a:extLst>
            </p:cNvPr>
            <p:cNvSpPr/>
            <p:nvPr/>
          </p:nvSpPr>
          <p:spPr>
            <a:xfrm>
              <a:off x="2615241" y="1399103"/>
              <a:ext cx="114292" cy="11429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521699F-D826-077C-AF45-26801E38C88D}"/>
                    </a:ext>
                  </a:extLst>
                </p:cNvPr>
                <p:cNvSpPr txBox="1"/>
                <p:nvPr/>
              </p:nvSpPr>
              <p:spPr>
                <a:xfrm>
                  <a:off x="2562229" y="1091624"/>
                  <a:ext cx="1839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521699F-D826-077C-AF45-26801E38C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229" y="1091624"/>
                  <a:ext cx="18396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3333" r="-30000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D3B4F2D8-15CC-FE85-41A3-B429EAD8FBBB}"/>
                </a:ext>
              </a:extLst>
            </p:cNvPr>
            <p:cNvSpPr/>
            <p:nvPr/>
          </p:nvSpPr>
          <p:spPr>
            <a:xfrm rot="2043625">
              <a:off x="2860679" y="2690279"/>
              <a:ext cx="498998" cy="498998"/>
            </a:xfrm>
            <a:prstGeom prst="arc">
              <a:avLst>
                <a:gd name="adj1" fmla="val 13832887"/>
                <a:gd name="adj2" fmla="val 19556912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90ACD9-F932-6DFE-AD72-191DC34B7214}"/>
                    </a:ext>
                  </a:extLst>
                </p:cNvPr>
                <p:cNvSpPr txBox="1"/>
                <p:nvPr/>
              </p:nvSpPr>
              <p:spPr>
                <a:xfrm>
                  <a:off x="3163133" y="2434179"/>
                  <a:ext cx="18947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790ACD9-F932-6DFE-AD72-191DC34B7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133" y="2434179"/>
                  <a:ext cx="18947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2258" r="-22581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8EDB6B5-B3EF-B0F2-BA70-419E2D0C3559}"/>
                </a:ext>
              </a:extLst>
            </p:cNvPr>
            <p:cNvSpPr/>
            <p:nvPr/>
          </p:nvSpPr>
          <p:spPr>
            <a:xfrm>
              <a:off x="1638045" y="1382699"/>
              <a:ext cx="3038457" cy="3038457"/>
            </a:xfrm>
            <a:prstGeom prst="ellipse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BF9349-8599-B06C-6B5F-35DC887608CC}"/>
                    </a:ext>
                  </a:extLst>
                </p:cNvPr>
                <p:cNvSpPr txBox="1"/>
                <p:nvPr/>
              </p:nvSpPr>
              <p:spPr>
                <a:xfrm>
                  <a:off x="2684861" y="2022739"/>
                  <a:ext cx="1669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BF9349-8599-B06C-6B5F-35DC887608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4861" y="2022739"/>
                  <a:ext cx="166969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18D3DAD-5CCD-0EDB-7982-003554A590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2100" y="2096250"/>
              <a:ext cx="60489" cy="92138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2561CAC-B390-B260-0486-C495C70F2D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2352" y="2188255"/>
              <a:ext cx="84934" cy="55460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802EBAD-3BFB-C0A5-FA93-CDED79F397FD}"/>
                    </a:ext>
                  </a:extLst>
                </p:cNvPr>
                <p:cNvSpPr txBox="1"/>
                <p:nvPr/>
              </p:nvSpPr>
              <p:spPr>
                <a:xfrm>
                  <a:off x="3522100" y="1846072"/>
                  <a:ext cx="39427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802EBAD-3BFB-C0A5-FA93-CDED79F397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2100" y="1846072"/>
                  <a:ext cx="39427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4063" r="-1563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43718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90</Words>
  <Application>Microsoft Office PowerPoint</Application>
  <PresentationFormat>On-screen Show (16:9)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Malgun Gothic</vt:lpstr>
      <vt:lpstr>Arial</vt:lpstr>
      <vt:lpstr>Calibri</vt:lpstr>
      <vt:lpstr>Cambria Math</vt:lpstr>
      <vt:lpstr>Cascadia Code ExtraLight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Uisang.Hwang</cp:lastModifiedBy>
  <cp:revision>9</cp:revision>
  <dcterms:created xsi:type="dcterms:W3CDTF">2026-09-30T15:05:55Z</dcterms:created>
  <dcterms:modified xsi:type="dcterms:W3CDTF">2026-09-30T20:31:23Z</dcterms:modified>
</cp:coreProperties>
</file>